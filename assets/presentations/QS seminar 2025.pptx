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67" r:id="rId5"/>
    <p:sldId id="271" r:id="rId6"/>
    <p:sldId id="270" r:id="rId7"/>
    <p:sldId id="268" r:id="rId8"/>
    <p:sldId id="273" r:id="rId9"/>
    <p:sldId id="274" r:id="rId10"/>
    <p:sldId id="272" r:id="rId11"/>
    <p:sldId id="275" r:id="rId12"/>
    <p:sldId id="276" r:id="rId13"/>
    <p:sldId id="281" r:id="rId14"/>
    <p:sldId id="287" r:id="rId15"/>
    <p:sldId id="282" r:id="rId16"/>
    <p:sldId id="277" r:id="rId17"/>
    <p:sldId id="278" r:id="rId18"/>
    <p:sldId id="283" r:id="rId19"/>
    <p:sldId id="263" r:id="rId20"/>
    <p:sldId id="284" r:id="rId21"/>
    <p:sldId id="279" r:id="rId22"/>
    <p:sldId id="285" r:id="rId23"/>
    <p:sldId id="2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8" autoAdjust="0"/>
    <p:restoredTop sz="94660"/>
  </p:normalViewPr>
  <p:slideViewPr>
    <p:cSldViewPr snapToGrid="0">
      <p:cViewPr>
        <p:scale>
          <a:sx n="100" d="100"/>
          <a:sy n="100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resentation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19213"/>
            <a:ext cx="10515600" cy="115728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88647"/>
            <a:ext cx="10515600" cy="4656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9489D-39F2-40E6-B3A5-98629CC88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0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35FB-A7D3-5AB4-5AD2-6E8087B4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422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618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620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33700"/>
            <a:ext cx="10515600" cy="32432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48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19213"/>
            <a:ext cx="10515600" cy="115728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762250"/>
            <a:ext cx="10515600" cy="3327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F9489D-39F2-40E6-B3A5-98629CC88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15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6519"/>
            <a:ext cx="10515600" cy="110849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47745"/>
            <a:ext cx="5181600" cy="41292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47745"/>
            <a:ext cx="5181600" cy="41292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DC5459-1009-CCB1-0E7B-1C27C66F1E71}"/>
              </a:ext>
            </a:extLst>
          </p:cNvPr>
          <p:cNvCxnSpPr/>
          <p:nvPr/>
        </p:nvCxnSpPr>
        <p:spPr>
          <a:xfrm>
            <a:off x="838200" y="1764407"/>
            <a:ext cx="10515600" cy="0"/>
          </a:xfrm>
          <a:prstGeom prst="line">
            <a:avLst/>
          </a:prstGeom>
          <a:ln w="9525">
            <a:solidFill>
              <a:srgbClr val="AE60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729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22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1919"/>
            <a:ext cx="10515600" cy="757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24100"/>
            <a:ext cx="5157787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3267075"/>
            <a:ext cx="5157787" cy="29225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612" y="2324100"/>
            <a:ext cx="5183188" cy="704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267075"/>
            <a:ext cx="5183188" cy="29225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680608-5D3D-FB8F-FF7C-0723206D5C36}"/>
              </a:ext>
            </a:extLst>
          </p:cNvPr>
          <p:cNvCxnSpPr/>
          <p:nvPr/>
        </p:nvCxnSpPr>
        <p:spPr>
          <a:xfrm>
            <a:off x="838200" y="1764407"/>
            <a:ext cx="10515600" cy="0"/>
          </a:xfrm>
          <a:prstGeom prst="line">
            <a:avLst/>
          </a:prstGeom>
          <a:ln w="9525">
            <a:solidFill>
              <a:srgbClr val="AE60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13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71599"/>
            <a:ext cx="3932237" cy="885825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7775" y="1371600"/>
            <a:ext cx="6297613" cy="470535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66974"/>
            <a:ext cx="3932237" cy="3609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0351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A07D-405F-47CD-945C-320FCE7B4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68613-86DA-4430-AAD5-448973769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905A6-D8B1-421F-80B8-9EE899A6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742EC-E029-4D18-ABD7-1DB9972994F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A8E93-27C8-4B9B-A55B-151E03A0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74D2A-B57D-4B20-B925-50163ED41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489D-39F2-40E6-B3A5-98629CC88C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B25E17-A2AC-1254-5822-DEDA0F20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08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7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4997-1C56-4450-8AED-6A29F6B90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563" y="1122363"/>
            <a:ext cx="10104581" cy="2018001"/>
          </a:xfrm>
        </p:spPr>
        <p:txBody>
          <a:bodyPr>
            <a:noAutofit/>
          </a:bodyPr>
          <a:lstStyle/>
          <a:p>
            <a:r>
              <a:rPr lang="en-US" sz="3200" dirty="0"/>
              <a:t>Single-cell immune profiling reveals potent anti-tumor immune response in virus-like particle vaccine and </a:t>
            </a:r>
            <a:r>
              <a:rPr lang="en-US" sz="3200"/>
              <a:t>anti-CTLA4 treatment through </a:t>
            </a:r>
            <a:r>
              <a:rPr lang="en-US" sz="3200" dirty="0"/>
              <a:t>lymphatic delivery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96D14-4638-45CB-B580-0B0C8406E4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Wendao Liu</a:t>
            </a:r>
          </a:p>
          <a:p>
            <a:r>
              <a:rPr lang="en-US" altLang="zh-CN" dirty="0"/>
              <a:t>Advisor: Zhongming Zhao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47F52D-FBA9-40CA-AAC6-7A767E7BF388}"/>
              </a:ext>
            </a:extLst>
          </p:cNvPr>
          <p:cNvSpPr/>
          <p:nvPr/>
        </p:nvSpPr>
        <p:spPr>
          <a:xfrm>
            <a:off x="295564" y="4775200"/>
            <a:ext cx="5403272" cy="1311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36B76-40EE-4BF9-9F3E-64BFEED9D617}"/>
              </a:ext>
            </a:extLst>
          </p:cNvPr>
          <p:cNvSpPr txBox="1"/>
          <p:nvPr/>
        </p:nvSpPr>
        <p:spPr>
          <a:xfrm>
            <a:off x="4553526" y="4702785"/>
            <a:ext cx="2909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QS seminar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8/25/2025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95D641-612C-4D17-9924-582E88408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63" y="5090157"/>
            <a:ext cx="3911312" cy="1268869"/>
          </a:xfrm>
          <a:prstGeom prst="rect">
            <a:avLst/>
          </a:prstGeom>
        </p:spPr>
      </p:pic>
      <p:pic>
        <p:nvPicPr>
          <p:cNvPr id="8" name="Picture 2" descr="SBMI Horizontal Logo">
            <a:extLst>
              <a:ext uri="{FF2B5EF4-FFF2-40B4-BE49-F238E27FC236}">
                <a16:creationId xmlns:a16="http://schemas.microsoft.com/office/drawing/2014/main" id="{64AE1879-AAD2-48F7-A89B-5DE131BE6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99" y="5498816"/>
            <a:ext cx="4871027" cy="58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18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F3F647-078C-45E1-B74E-9D98B6581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50" y="3295594"/>
            <a:ext cx="6755822" cy="342588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36CF1-D573-4A11-AC08-8ABDDA8A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00176"/>
            <a:ext cx="11191297" cy="468947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Immune checkpoint blockade (ICB, anti-PD1, anti-CTLA4, </a:t>
            </a:r>
            <a:r>
              <a:rPr lang="en-US" sz="2000" dirty="0" err="1"/>
              <a:t>etc</a:t>
            </a:r>
            <a:r>
              <a:rPr lang="en-US" sz="2000" dirty="0"/>
              <a:t>) is a widely used immunotherapy to activate T cells in cancer treatment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ICB also activates bystander T cells recognizing cancer-irrelevant antigens, leading to side effect, immune-related adverse events (</a:t>
            </a:r>
            <a:r>
              <a:rPr lang="en-US" sz="2000" dirty="0" err="1"/>
              <a:t>irAEs</a:t>
            </a:r>
            <a:r>
              <a:rPr lang="en-US" sz="20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Cancer vaccines induce tumor-specific T cell response, and can be combined with ICB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 this study, we used virus-like particle                                                                              vaccine (VLP, Bacteriophage Q</a:t>
            </a:r>
            <a:r>
              <a:rPr lang="en-US" altLang="zh-CN" sz="2000" dirty="0"/>
              <a:t>β                                                                                     conjugated to </a:t>
            </a:r>
            <a:r>
              <a:rPr lang="en-US" sz="2000" dirty="0"/>
              <a:t>PMEL peptide, a                                                                                             tumor-associated antigen for melanoma)</a:t>
            </a:r>
            <a:r>
              <a:rPr lang="zh-CN" altLang="en-US" sz="2000" dirty="0"/>
              <a:t>                                                                                        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treat</a:t>
            </a:r>
            <a:r>
              <a:rPr lang="zh-CN" altLang="en-US" sz="2000" dirty="0"/>
              <a:t> </a:t>
            </a:r>
            <a:r>
              <a:rPr lang="en-US" altLang="zh-CN" sz="2000" dirty="0"/>
              <a:t>melanoma</a:t>
            </a:r>
            <a:endParaRPr lang="en-US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A43F31-4BC2-4B29-A5F6-0593DD56BDB8}"/>
              </a:ext>
            </a:extLst>
          </p:cNvPr>
          <p:cNvSpPr txBox="1">
            <a:spLocks/>
          </p:cNvSpPr>
          <p:nvPr/>
        </p:nvSpPr>
        <p:spPr>
          <a:xfrm>
            <a:off x="9633527" y="249382"/>
            <a:ext cx="2475345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871C42-F891-49B3-A25F-0D9EEC18F925}"/>
              </a:ext>
            </a:extLst>
          </p:cNvPr>
          <p:cNvSpPr txBox="1">
            <a:spLocks/>
          </p:cNvSpPr>
          <p:nvPr/>
        </p:nvSpPr>
        <p:spPr>
          <a:xfrm>
            <a:off x="187194" y="249382"/>
            <a:ext cx="7108955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Immune checkpoint blockade </a:t>
            </a:r>
            <a:r>
              <a:rPr lang="en-US" altLang="zh-CN" sz="3200" dirty="0">
                <a:solidFill>
                  <a:schemeClr val="bg1"/>
                </a:solidFill>
              </a:rPr>
              <a:t>and cancer vaccine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825262-C41E-4CF6-AA5A-FAA768F629F5}"/>
              </a:ext>
            </a:extLst>
          </p:cNvPr>
          <p:cNvSpPr txBox="1"/>
          <p:nvPr/>
        </p:nvSpPr>
        <p:spPr>
          <a:xfrm>
            <a:off x="4376737" y="6391275"/>
            <a:ext cx="195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BioRender.com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CEDB97-10C8-4D38-9D77-C25E4E8CC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290" y="5173514"/>
            <a:ext cx="1124107" cy="106694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7B6AC9-C85E-49DF-A0AA-1AB424DB7357}"/>
              </a:ext>
            </a:extLst>
          </p:cNvPr>
          <p:cNvCxnSpPr/>
          <p:nvPr/>
        </p:nvCxnSpPr>
        <p:spPr>
          <a:xfrm flipH="1" flipV="1">
            <a:off x="2209800" y="5829300"/>
            <a:ext cx="542925" cy="260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9E2125-CCAD-4765-92F5-1E5E91163349}"/>
              </a:ext>
            </a:extLst>
          </p:cNvPr>
          <p:cNvCxnSpPr>
            <a:cxnSpLocks/>
          </p:cNvCxnSpPr>
          <p:nvPr/>
        </p:nvCxnSpPr>
        <p:spPr>
          <a:xfrm flipH="1">
            <a:off x="2501783" y="5411170"/>
            <a:ext cx="393778" cy="249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DEA2C3-4CC5-41AA-843C-2273C0C72115}"/>
              </a:ext>
            </a:extLst>
          </p:cNvPr>
          <p:cNvSpPr txBox="1"/>
          <p:nvPr/>
        </p:nvSpPr>
        <p:spPr>
          <a:xfrm>
            <a:off x="2782829" y="5190820"/>
            <a:ext cx="195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Tumor antigen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24DB4D-A32C-48A5-A447-5B182275831B}"/>
              </a:ext>
            </a:extLst>
          </p:cNvPr>
          <p:cNvSpPr txBox="1"/>
          <p:nvPr/>
        </p:nvSpPr>
        <p:spPr>
          <a:xfrm>
            <a:off x="2765358" y="5932493"/>
            <a:ext cx="195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19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079244-E01D-4552-9FD0-5F87448EF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524" y="3038171"/>
            <a:ext cx="6765347" cy="367036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56C12-78E2-46B3-AC78-F4188BEDE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38300"/>
            <a:ext cx="10515600" cy="44513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Immune checkpoint inhibitors were generally administrated </a:t>
            </a:r>
            <a:r>
              <a:rPr lang="en-US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intravenously (IV), circulating over whole body, causing </a:t>
            </a:r>
            <a:r>
              <a:rPr lang="en-US" b="0" i="0" dirty="0" err="1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irAEs</a:t>
            </a:r>
            <a:r>
              <a:rPr lang="en-US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in various organs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hypothesize that </a:t>
            </a:r>
            <a:r>
              <a:rPr lang="en-US" altLang="zh-CN" dirty="0"/>
              <a:t>intradermally (ID) </a:t>
            </a:r>
            <a:r>
              <a:rPr lang="en-US" dirty="0"/>
              <a:t>lymphatic delivery of </a:t>
            </a:r>
            <a:r>
              <a:rPr lang="el-GR" dirty="0"/>
              <a:t>α</a:t>
            </a:r>
            <a:r>
              <a:rPr lang="en-US" dirty="0"/>
              <a:t>CTLA4 to a vaccinated, non-tumor draining LNs (non-</a:t>
            </a:r>
            <a:r>
              <a:rPr lang="en-US" dirty="0" err="1"/>
              <a:t>tdLNs</a:t>
            </a:r>
            <a:r>
              <a:rPr lang="en-US" dirty="0"/>
              <a:t>) will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 tumor-specific T cells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minimize bystander T cell infiltration                                                                          into normal tissues causing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irAEs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1DB7652-8679-4CEA-8239-9725E711F0BD}"/>
              </a:ext>
            </a:extLst>
          </p:cNvPr>
          <p:cNvSpPr txBox="1">
            <a:spLocks/>
          </p:cNvSpPr>
          <p:nvPr/>
        </p:nvSpPr>
        <p:spPr>
          <a:xfrm>
            <a:off x="9633527" y="249382"/>
            <a:ext cx="2475345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Background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DECE1D-0392-4680-8BC5-DB5E9A0AC534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5660289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Lymphatic delivery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5606C0-603F-4A9C-B687-A41B18C73D3C}"/>
              </a:ext>
            </a:extLst>
          </p:cNvPr>
          <p:cNvSpPr txBox="1"/>
          <p:nvPr/>
        </p:nvSpPr>
        <p:spPr>
          <a:xfrm>
            <a:off x="4376737" y="6391275"/>
            <a:ext cx="195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BioRender.com</a:t>
            </a:r>
          </a:p>
        </p:txBody>
      </p:sp>
    </p:spTree>
    <p:extLst>
      <p:ext uri="{BB962C8B-B14F-4D97-AF65-F5344CB8AC3E}">
        <p14:creationId xmlns:p14="http://schemas.microsoft.com/office/powerpoint/2010/main" val="260944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1585F-1C05-4512-9495-0883C982D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22401"/>
            <a:ext cx="10515600" cy="20066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Mouse melanoma models treated with different therapies: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Aiming to dissect the                                                                                  treatment effect of therapies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67036F-748D-4A76-B47E-A288A7D77A33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Design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79948A-54D5-4876-B919-3F9F0A464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64" y="3647231"/>
            <a:ext cx="10775372" cy="296138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FCC6D25-BD97-4D71-B8FC-A8247F241E27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6385055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Characterizing immune response in therapies </a:t>
            </a: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4BCC3E88-E85C-4993-A081-FAC8A5C14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414440"/>
              </p:ext>
            </p:extLst>
          </p:nvPr>
        </p:nvGraphicFramePr>
        <p:xfrm>
          <a:off x="5200650" y="2009981"/>
          <a:ext cx="6724648" cy="120078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681162">
                  <a:extLst>
                    <a:ext uri="{9D8B030D-6E8A-4147-A177-3AD203B41FA5}">
                      <a16:colId xmlns:a16="http://schemas.microsoft.com/office/drawing/2014/main" val="272864622"/>
                    </a:ext>
                  </a:extLst>
                </a:gridCol>
                <a:gridCol w="1681162">
                  <a:extLst>
                    <a:ext uri="{9D8B030D-6E8A-4147-A177-3AD203B41FA5}">
                      <a16:colId xmlns:a16="http://schemas.microsoft.com/office/drawing/2014/main" val="347064326"/>
                    </a:ext>
                  </a:extLst>
                </a:gridCol>
                <a:gridCol w="1681162">
                  <a:extLst>
                    <a:ext uri="{9D8B030D-6E8A-4147-A177-3AD203B41FA5}">
                      <a16:colId xmlns:a16="http://schemas.microsoft.com/office/drawing/2014/main" val="2784938698"/>
                    </a:ext>
                  </a:extLst>
                </a:gridCol>
                <a:gridCol w="1681162">
                  <a:extLst>
                    <a:ext uri="{9D8B030D-6E8A-4147-A177-3AD203B41FA5}">
                      <a16:colId xmlns:a16="http://schemas.microsoft.com/office/drawing/2014/main" val="3243559900"/>
                    </a:ext>
                  </a:extLst>
                </a:gridCol>
              </a:tblGrid>
              <a:tr h="490289"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αCTLA</a:t>
                      </a:r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αCTLA IV </a:t>
                      </a:r>
                    </a:p>
                    <a:p>
                      <a:r>
                        <a:rPr lang="en-US" altLang="zh-C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(blood delivery)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αCTLA ID </a:t>
                      </a:r>
                    </a:p>
                    <a:p>
                      <a:r>
                        <a:rPr lang="en-US" altLang="zh-C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(lymphatic delivery)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261219"/>
                  </a:ext>
                </a:extLst>
              </a:tr>
              <a:tr h="34131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vaccination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944785"/>
                  </a:ext>
                </a:extLst>
              </a:tr>
              <a:tr h="341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VLP vaccination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997692"/>
                  </a:ext>
                </a:extLst>
              </a:tr>
            </a:tbl>
          </a:graphicData>
        </a:graphic>
      </p:graphicFrame>
      <p:sp>
        <p:nvSpPr>
          <p:cNvPr id="13" name="Right Brace 12">
            <a:extLst>
              <a:ext uri="{FF2B5EF4-FFF2-40B4-BE49-F238E27FC236}">
                <a16:creationId xmlns:a16="http://schemas.microsoft.com/office/drawing/2014/main" id="{CB253130-4E2E-4665-B0C7-258B11E746EF}"/>
              </a:ext>
            </a:extLst>
          </p:cNvPr>
          <p:cNvSpPr/>
          <p:nvPr/>
        </p:nvSpPr>
        <p:spPr>
          <a:xfrm rot="16200000" flipH="1">
            <a:off x="8257703" y="427599"/>
            <a:ext cx="306547" cy="61327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30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150E4-943F-4C41-9832-A88514F92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62546"/>
            <a:ext cx="5149850" cy="44271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αCTLA administrated at low dose (1 mg/kg, lower than regular 10 mg/kg in mouse experiments) to collect enough tumor tissue for sequencing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VLP vaccination,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αCTLA ID treatment, and combination therapy all reduce tumor volume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Compared to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Compared to </a:t>
            </a:r>
            <a:r>
              <a:rPr lang="el-G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CTLA IV 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F712330-C70B-4F96-8581-B64438CE7489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065BDE-5E9C-4734-9CAD-40763450A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75" y="2117173"/>
            <a:ext cx="4344006" cy="397247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0CEB5E1-245A-4A44-A946-154262B23711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6385055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Treatments suppress tumor growth</a:t>
            </a:r>
          </a:p>
        </p:txBody>
      </p:sp>
    </p:spTree>
    <p:extLst>
      <p:ext uri="{BB962C8B-B14F-4D97-AF65-F5344CB8AC3E}">
        <p14:creationId xmlns:p14="http://schemas.microsoft.com/office/powerpoint/2010/main" val="260783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E6FC5-FE54-4408-B8DC-F35917E35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28776"/>
            <a:ext cx="10515600" cy="180022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Clustering and annotation of tumor-infiltrating immune cell populations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Disentangle treatment effects from batch variation using </a:t>
            </a:r>
            <a:r>
              <a:rPr lang="en-US" dirty="0" err="1"/>
              <a:t>scCODA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Increased T cell proportion is a synergistic effect of VLP vaccination and </a:t>
            </a:r>
            <a:r>
              <a:rPr lang="en-US" altLang="zh-CN" sz="2400" b="0" dirty="0">
                <a:latin typeface="Arial" panose="020B0604020202020204" pitchFamily="34" charset="0"/>
                <a:cs typeface="Arial" panose="020B0604020202020204" pitchFamily="34" charset="0"/>
              </a:rPr>
              <a:t>αCTLA ID (lymphatic delivery)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97646F-68F9-43EA-8ACA-A125DA7A791E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0BD133-4A49-4DA3-92F2-7E21D1BD3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61" y="3587234"/>
            <a:ext cx="3203790" cy="3086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5B01AE-CBEE-46BB-B395-23785700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032" y="3367857"/>
            <a:ext cx="4187038" cy="349014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04E435C-9726-469F-9030-52548D5C7430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5660289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 err="1">
                <a:solidFill>
                  <a:schemeClr val="bg1"/>
                </a:solidFill>
              </a:rPr>
              <a:t>scRNA</a:t>
            </a:r>
            <a:r>
              <a:rPr lang="en-US" altLang="zh-CN" sz="3200" dirty="0">
                <a:solidFill>
                  <a:schemeClr val="bg1"/>
                </a:solidFill>
              </a:rPr>
              <a:t>-seq of immune cells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63440-4F00-430C-9856-79480CE0B7D5}"/>
              </a:ext>
            </a:extLst>
          </p:cNvPr>
          <p:cNvSpPr txBox="1"/>
          <p:nvPr/>
        </p:nvSpPr>
        <p:spPr>
          <a:xfrm>
            <a:off x="7709688" y="6488668"/>
            <a:ext cx="418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Buttner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 et al. Nat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Commn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2021</a:t>
            </a:r>
          </a:p>
        </p:txBody>
      </p:sp>
    </p:spTree>
    <p:extLst>
      <p:ext uri="{BB962C8B-B14F-4D97-AF65-F5344CB8AC3E}">
        <p14:creationId xmlns:p14="http://schemas.microsoft.com/office/powerpoint/2010/main" val="4141208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2D4C-8D39-4C2B-BC78-7F515195C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95580"/>
            <a:ext cx="10515600" cy="44940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 cell subpopulations was annotated based on marker genes (</a:t>
            </a:r>
            <a:r>
              <a:rPr lang="en-US" dirty="0" err="1"/>
              <a:t>scRNA</a:t>
            </a:r>
            <a:r>
              <a:rPr lang="en-US" dirty="0"/>
              <a:t>-seq), and clonal expansion (</a:t>
            </a:r>
            <a:r>
              <a:rPr lang="en-US" dirty="0" err="1"/>
              <a:t>scTCR</a:t>
            </a:r>
            <a:r>
              <a:rPr lang="en-US" dirty="0"/>
              <a:t>-seq)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VLP vaccination increase CD4+ helper 1 T (Th1)/ regulatory T (Treg) ratio, and CD8+ effector T (</a:t>
            </a:r>
            <a:r>
              <a:rPr lang="en-US" dirty="0" err="1"/>
              <a:t>Te</a:t>
            </a:r>
            <a:r>
              <a:rPr lang="en-US" dirty="0"/>
              <a:t>)/ exhausted T (</a:t>
            </a:r>
            <a:r>
              <a:rPr lang="en-US" dirty="0" err="1"/>
              <a:t>Tex</a:t>
            </a:r>
            <a:r>
              <a:rPr lang="en-US" dirty="0"/>
              <a:t>) ratio, suggesting increase cell-mediated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Validated using flow cytometry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3186A0-0277-4891-B0D8-E59C71D894C4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F201DF-1B99-42FB-BA5C-B92667FB4783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6223130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VLP vaccination increase effector T cells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FF2D4A-D966-42BA-9802-40B72ED3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733" y="3940603"/>
            <a:ext cx="3359026" cy="27546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A67C04-D92B-4A31-8D14-7C3A337A5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215" y="3707821"/>
            <a:ext cx="3729364" cy="30208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016895-018F-4CAC-8242-BFC92BB3DF72}"/>
              </a:ext>
            </a:extLst>
          </p:cNvPr>
          <p:cNvSpPr txBox="1"/>
          <p:nvPr/>
        </p:nvSpPr>
        <p:spPr>
          <a:xfrm>
            <a:off x="9484724" y="4263769"/>
            <a:ext cx="147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scRNA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-seq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2291C-BF10-4AB9-8CE1-70B48EFC25BD}"/>
              </a:ext>
            </a:extLst>
          </p:cNvPr>
          <p:cNvSpPr txBox="1"/>
          <p:nvPr/>
        </p:nvSpPr>
        <p:spPr>
          <a:xfrm>
            <a:off x="10675103" y="3940603"/>
            <a:ext cx="147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Flow cytometry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AC90AC-70B1-45C4-BD97-07A8F9703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603" y="3400425"/>
            <a:ext cx="4891002" cy="317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4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2D4C-8D39-4C2B-BC78-7F515195C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50110"/>
            <a:ext cx="10515600" cy="1717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CD8+ </a:t>
            </a:r>
            <a:r>
              <a:rPr lang="en-US" dirty="0" err="1"/>
              <a:t>Te</a:t>
            </a:r>
            <a:r>
              <a:rPr lang="en-US" dirty="0"/>
              <a:t> cells highly express </a:t>
            </a:r>
            <a:r>
              <a:rPr lang="en-US" i="1" dirty="0"/>
              <a:t>Il7r, Klrg1, </a:t>
            </a:r>
            <a:r>
              <a:rPr lang="en-US" i="1" dirty="0" err="1"/>
              <a:t>Gzmk</a:t>
            </a:r>
            <a:r>
              <a:rPr lang="en-US" i="1" dirty="0"/>
              <a:t>, </a:t>
            </a:r>
            <a:r>
              <a:rPr lang="en-US" i="1" dirty="0" err="1"/>
              <a:t>Gzma</a:t>
            </a:r>
            <a:endParaRPr lang="en-US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May differentiate into "ExKLRG1" memory T cells with increased cytotoxicity and proliferative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CD8+ </a:t>
            </a:r>
            <a:r>
              <a:rPr lang="en-US" dirty="0" err="1"/>
              <a:t>Te</a:t>
            </a:r>
            <a:r>
              <a:rPr lang="en-US" dirty="0"/>
              <a:t> signature positively correlated with patient survival in TCGA-SKCM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3186A0-0277-4891-B0D8-E59C71D894C4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F201DF-1B99-42FB-BA5C-B92667FB4783}"/>
              </a:ext>
            </a:extLst>
          </p:cNvPr>
          <p:cNvSpPr txBox="1">
            <a:spLocks/>
          </p:cNvSpPr>
          <p:nvPr/>
        </p:nvSpPr>
        <p:spPr>
          <a:xfrm>
            <a:off x="187194" y="249382"/>
            <a:ext cx="6708905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Klrg1+ effector T cells has anti-tumor effect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77F996-EB76-44FC-88BF-998D1D34E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3" y="3524526"/>
            <a:ext cx="5215947" cy="2899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1C06EA-C609-4B47-9456-3DD77BECB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93" y="3975195"/>
            <a:ext cx="3139498" cy="24487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DD807A-195F-4DCE-AC08-A72E93B5BD7B}"/>
              </a:ext>
            </a:extLst>
          </p:cNvPr>
          <p:cNvSpPr txBox="1"/>
          <p:nvPr/>
        </p:nvSpPr>
        <p:spPr>
          <a:xfrm>
            <a:off x="656648" y="6423952"/>
            <a:ext cx="4912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Herndle-Brandstetter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et al. Immunity 2018</a:t>
            </a:r>
          </a:p>
        </p:txBody>
      </p:sp>
    </p:spTree>
    <p:extLst>
      <p:ext uri="{BB962C8B-B14F-4D97-AF65-F5344CB8AC3E}">
        <p14:creationId xmlns:p14="http://schemas.microsoft.com/office/powerpoint/2010/main" val="305810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2D4C-8D39-4C2B-BC78-7F515195C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33501"/>
            <a:ext cx="10515600" cy="146511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Clonal expansion: T cells become activated after recognizing target antigen and divide into many T cells with same T cell receptor (TCR)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VLP vaccination significantly increases CD4+ T cell clonal expansion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αCTLA4 treatment </a:t>
            </a:r>
            <a:r>
              <a:rPr lang="en-US" dirty="0"/>
              <a:t>significantly increases CD8+ T cell clonal expansion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3186A0-0277-4891-B0D8-E59C71D894C4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F201DF-1B99-42FB-BA5C-B92667FB4783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6223130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Treatments increase T cell clonal expansion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C5150-E9C9-4B65-ACF8-5F032BE35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33" y="3202449"/>
            <a:ext cx="5064340" cy="3406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29E5AE-5E99-474F-BE33-E71FDEE22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023" y="3429000"/>
            <a:ext cx="4373658" cy="2904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1D09F4-61CD-4055-9315-0DE51D6CE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443" y="3705225"/>
            <a:ext cx="1402802" cy="245004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AEC155D-8724-40B7-A741-3205B2E75245}"/>
              </a:ext>
            </a:extLst>
          </p:cNvPr>
          <p:cNvSpPr/>
          <p:nvPr/>
        </p:nvSpPr>
        <p:spPr>
          <a:xfrm>
            <a:off x="4394730" y="5505448"/>
            <a:ext cx="457200" cy="276223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2140F3-97CB-465B-9208-E7A33C0E0EEA}"/>
              </a:ext>
            </a:extLst>
          </p:cNvPr>
          <p:cNvSpPr/>
          <p:nvPr/>
        </p:nvSpPr>
        <p:spPr>
          <a:xfrm>
            <a:off x="2953280" y="5446707"/>
            <a:ext cx="457200" cy="276223"/>
          </a:xfrm>
          <a:prstGeom prst="ellipse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F214875-CCDE-4DD1-86A5-CE6DF6F6160D}"/>
              </a:ext>
            </a:extLst>
          </p:cNvPr>
          <p:cNvSpPr/>
          <p:nvPr/>
        </p:nvSpPr>
        <p:spPr>
          <a:xfrm>
            <a:off x="3008818" y="5721660"/>
            <a:ext cx="457200" cy="27622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557448-5601-4005-A091-D68D67E35193}"/>
              </a:ext>
            </a:extLst>
          </p:cNvPr>
          <p:cNvSpPr/>
          <p:nvPr/>
        </p:nvSpPr>
        <p:spPr>
          <a:xfrm>
            <a:off x="4453508" y="5770880"/>
            <a:ext cx="457200" cy="27622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E98CBE-5B5A-4F3B-82E6-FB6A8316EA4A}"/>
              </a:ext>
            </a:extLst>
          </p:cNvPr>
          <p:cNvSpPr/>
          <p:nvPr/>
        </p:nvSpPr>
        <p:spPr>
          <a:xfrm>
            <a:off x="2387698" y="3803715"/>
            <a:ext cx="794182" cy="6583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FEA386-0A94-4D5F-90E1-BC18CFC0BA74}"/>
              </a:ext>
            </a:extLst>
          </p:cNvPr>
          <p:cNvSpPr txBox="1"/>
          <p:nvPr/>
        </p:nvSpPr>
        <p:spPr>
          <a:xfrm>
            <a:off x="3291104" y="5160145"/>
            <a:ext cx="1477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CD8+ </a:t>
            </a:r>
            <a:r>
              <a:rPr lang="en-US" sz="16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endParaRPr lang="en-US" sz="16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1A4000-E96E-42C6-91CD-943F6E3D16F9}"/>
              </a:ext>
            </a:extLst>
          </p:cNvPr>
          <p:cNvSpPr txBox="1"/>
          <p:nvPr/>
        </p:nvSpPr>
        <p:spPr>
          <a:xfrm>
            <a:off x="3291104" y="5917761"/>
            <a:ext cx="1477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CD4+ Th1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E53010-0189-408C-83BA-703AADCAC64E}"/>
              </a:ext>
            </a:extLst>
          </p:cNvPr>
          <p:cNvSpPr txBox="1"/>
          <p:nvPr/>
        </p:nvSpPr>
        <p:spPr>
          <a:xfrm>
            <a:off x="1889249" y="3481573"/>
            <a:ext cx="2564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CD8+ </a:t>
            </a:r>
            <a:r>
              <a:rPr lang="en-US" sz="1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</a:t>
            </a:r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Proliferative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EAAFD9-77A9-4294-90EE-8AF918C341E3}"/>
              </a:ext>
            </a:extLst>
          </p:cNvPr>
          <p:cNvSpPr/>
          <p:nvPr/>
        </p:nvSpPr>
        <p:spPr>
          <a:xfrm>
            <a:off x="1570576" y="5721660"/>
            <a:ext cx="457200" cy="276223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63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C68D6-37D1-4B41-8CC2-6CE6276A3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19226"/>
            <a:ext cx="10807700" cy="189230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With VLP vaccination: increased clonal expansion of Th1, </a:t>
            </a:r>
            <a:r>
              <a:rPr lang="en-US" dirty="0" err="1"/>
              <a:t>Te</a:t>
            </a:r>
            <a:r>
              <a:rPr lang="en-US" dirty="0"/>
              <a:t>, HSP+, ISG+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Without vaccination: increased clonal expansion of </a:t>
            </a:r>
            <a:r>
              <a:rPr lang="en-US" dirty="0" err="1"/>
              <a:t>Tex</a:t>
            </a:r>
            <a:r>
              <a:rPr lang="en-US" dirty="0"/>
              <a:t>, Proliferative 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Combination therapy effectively promoted the expansion of non-exhausted effector T cells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FD2B3-34FB-4216-AB16-619796D21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799" y="3546473"/>
            <a:ext cx="7755081" cy="321964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F529DF2-FC3A-416E-B05B-0E3B08FDA368}"/>
              </a:ext>
            </a:extLst>
          </p:cNvPr>
          <p:cNvSpPr txBox="1">
            <a:spLocks/>
          </p:cNvSpPr>
          <p:nvPr/>
        </p:nvSpPr>
        <p:spPr>
          <a:xfrm>
            <a:off x="91944" y="195030"/>
            <a:ext cx="7794755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2000" dirty="0">
                <a:solidFill>
                  <a:schemeClr val="bg1"/>
                </a:solidFill>
              </a:rPr>
              <a:t>VLP increases CD4+ and CD8+ effect T cell clonal expansion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548AFC-874D-428D-A6CE-FCEE2FBC2EF8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484C2D-1B29-45B4-B023-27357DBE3C4C}"/>
              </a:ext>
            </a:extLst>
          </p:cNvPr>
          <p:cNvSpPr/>
          <p:nvPr/>
        </p:nvSpPr>
        <p:spPr>
          <a:xfrm>
            <a:off x="4120515" y="3546473"/>
            <a:ext cx="409575" cy="2289178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D5E3C3-56A0-40E1-9520-D4220862932C}"/>
              </a:ext>
            </a:extLst>
          </p:cNvPr>
          <p:cNvSpPr/>
          <p:nvPr/>
        </p:nvSpPr>
        <p:spPr>
          <a:xfrm>
            <a:off x="3388995" y="3546473"/>
            <a:ext cx="409575" cy="2289178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250DC-CC59-4A9A-A77B-347DBCFC3EB3}"/>
              </a:ext>
            </a:extLst>
          </p:cNvPr>
          <p:cNvSpPr/>
          <p:nvPr/>
        </p:nvSpPr>
        <p:spPr>
          <a:xfrm>
            <a:off x="7453745" y="3549646"/>
            <a:ext cx="769909" cy="2289178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5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2D4C-8D39-4C2B-BC78-7F515195C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38300"/>
            <a:ext cx="10515600" cy="44513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 cells recognize target cells through TCR-epitope-MHC binding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pMTnet</a:t>
            </a:r>
            <a:r>
              <a:rPr lang="en-US" dirty="0"/>
              <a:t>-omni predicts TCR-epitope binding using </a:t>
            </a:r>
            <a:r>
              <a:rPr lang="en-US" altLang="zh-CN" dirty="0"/>
              <a:t>amino acid sequence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our study, we predicted vaccine peptide (</a:t>
            </a:r>
            <a:r>
              <a:rPr lang="en-US" dirty="0" err="1"/>
              <a:t>Pmel</a:t>
            </a:r>
            <a:r>
              <a:rPr lang="en-US" dirty="0"/>
              <a:t>)-specific TCRs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3186A0-0277-4891-B0D8-E59C71D894C4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F201DF-1B99-42FB-BA5C-B92667FB4783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6223130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Tumor antigen-specific T cell prediction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249F47-E283-4864-B912-DC42CC73B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573" y="3429000"/>
            <a:ext cx="4648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FA1485-1354-4A57-9D0B-BB0BA1EC3F4A}"/>
              </a:ext>
            </a:extLst>
          </p:cNvPr>
          <p:cNvSpPr txBox="1"/>
          <p:nvPr/>
        </p:nvSpPr>
        <p:spPr>
          <a:xfrm>
            <a:off x="8925790" y="6325011"/>
            <a:ext cx="2819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Han Y et al.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bioRxiv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2023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932C3F-F8B9-4317-88C9-0D1A5CBA8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302" y="3512926"/>
            <a:ext cx="4284975" cy="242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5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2D4C-8D39-4C2B-BC78-7F515195C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283856"/>
            <a:ext cx="10515600" cy="1921162"/>
          </a:xfrm>
        </p:spPr>
        <p:txBody>
          <a:bodyPr/>
          <a:lstStyle/>
          <a:p>
            <a:r>
              <a:rPr lang="en-US" dirty="0"/>
              <a:t>High-binding-specificity T cells were selected by:</a:t>
            </a:r>
          </a:p>
          <a:p>
            <a:pPr marL="457200" indent="-457200">
              <a:buAutoNum type="arabicPeriod"/>
            </a:pPr>
            <a:r>
              <a:rPr lang="en-US" dirty="0"/>
              <a:t>Clonal expansion; </a:t>
            </a:r>
          </a:p>
          <a:p>
            <a:pPr marL="457200" indent="-457200">
              <a:buAutoNum type="arabicPeriod"/>
            </a:pPr>
            <a:r>
              <a:rPr lang="en-US" dirty="0"/>
              <a:t>Highly confident </a:t>
            </a:r>
            <a:r>
              <a:rPr lang="en-US" dirty="0" err="1"/>
              <a:t>pMTnet</a:t>
            </a:r>
            <a:r>
              <a:rPr lang="en-US" dirty="0"/>
              <a:t> prediction (%rank&lt;0.03)</a:t>
            </a:r>
          </a:p>
          <a:p>
            <a:pPr marL="457200" indent="-457200">
              <a:buAutoNum type="arabicPeriod"/>
            </a:pPr>
            <a:endParaRPr lang="en-US" dirty="0"/>
          </a:p>
          <a:p>
            <a:r>
              <a:rPr lang="en-US" dirty="0"/>
              <a:t>Mainly in CD8+ Proliferative, </a:t>
            </a:r>
            <a:r>
              <a:rPr lang="en-US" dirty="0" err="1"/>
              <a:t>Te</a:t>
            </a:r>
            <a:r>
              <a:rPr lang="en-US" dirty="0"/>
              <a:t>, </a:t>
            </a:r>
            <a:r>
              <a:rPr lang="en-US" dirty="0" err="1"/>
              <a:t>Tex</a:t>
            </a:r>
            <a:r>
              <a:rPr lang="en-US" dirty="0"/>
              <a:t> and CD4+ Th1 clusters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3186A0-0277-4891-B0D8-E59C71D894C4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F201DF-1B99-42FB-BA5C-B92667FB4783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6223130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Tumor antigen-specific T cell phenotype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55C59-EBFC-4007-96EB-26D71D6B1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034" y="3636747"/>
            <a:ext cx="2806608" cy="29140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79F18E-CC92-4F1B-B7CE-BD16CB39A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327" y="3791530"/>
            <a:ext cx="3183764" cy="295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88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5BDB4-3F25-47C5-8745-F2909ED1F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34836"/>
            <a:ext cx="6658841" cy="445481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Vaccine antigen (PMEL)-highly-specific T cells were found in almost all VLP-vaccinated mice, but none in unvaccinated mice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Accounting for 0.3%~4% CD8+/CD4+ T cells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Stronger response in CD8+ T cells likely because v</a:t>
            </a:r>
            <a:r>
              <a:rPr lang="en-US" altLang="zh-CN" dirty="0"/>
              <a:t>accine antigen is good MHC-I binder but not good MHC-II binder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3A71F-2047-440A-AAC9-BE2E187C3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91" y="2454275"/>
            <a:ext cx="4396875" cy="355397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CDBF7DF-7485-4945-B320-4C2BEB7AE00B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6223130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Tumor antigen-specific T cells in treatments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8E3894-734C-49AC-BF2A-58C5F5ECC098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595191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6B495-6F73-4144-BFBE-081540A08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88656"/>
            <a:ext cx="5797550" cy="450099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ELISA experiment to measure overall tumor antigen-specific T cell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Tumor-infiltrating T cells cocultured with tumor cell lysate (containing antigens) and bone marrow-derived DC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Higher IFN-</a:t>
            </a:r>
            <a:r>
              <a:rPr lang="en-US" altLang="zh-CN" dirty="0"/>
              <a:t>γ concentration in treatment groups except αCTLA4 IV indicates more</a:t>
            </a:r>
            <a:r>
              <a:rPr lang="en-US" dirty="0"/>
              <a:t> tumor antigen-specific T cell (some are not vaccine peptide-specific)</a:t>
            </a:r>
            <a:r>
              <a:rPr lang="en-US" altLang="zh-CN" dirty="0"/>
              <a:t> 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AF56D5-B139-4AD0-9123-D256C931360D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017475-D68A-49AB-8691-AD21485CB115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6223130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Tumor antigen-specific T cells in treatments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C02AE-E2C9-4577-9400-D411EDE4D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75" y="1967843"/>
            <a:ext cx="3684899" cy="407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413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6AC98-A633-4854-B53A-6AA3CB592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47800"/>
            <a:ext cx="6016625" cy="46418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Foxp3-DTR (diphtheria toxin receptor) mice, Tregs depleted using diphtheria toxin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Measuring </a:t>
            </a:r>
            <a:r>
              <a:rPr lang="en-US" altLang="zh-CN" dirty="0" err="1"/>
              <a:t>irAEs</a:t>
            </a:r>
            <a:r>
              <a:rPr lang="en-US" altLang="zh-CN" dirty="0"/>
              <a:t>: </a:t>
            </a:r>
            <a:r>
              <a:rPr lang="en-US" dirty="0"/>
              <a:t>lymphocyte infiltrating and inflammation in liver, lung and colon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Lower level of </a:t>
            </a:r>
            <a:r>
              <a:rPr lang="en-US" dirty="0" err="1"/>
              <a:t>irAEs</a:t>
            </a:r>
            <a:r>
              <a:rPr lang="en-US" dirty="0"/>
              <a:t> in </a:t>
            </a:r>
            <a:r>
              <a:rPr lang="en-US" altLang="zh-CN" dirty="0"/>
              <a:t>αCTLA4 ID (lymphatic delivery) treatment compared to αCTLA4 IV (blood delivery)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94EA2-8BB3-4746-BCDE-CDF417EBF1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80"/>
          <a:stretch/>
        </p:blipFill>
        <p:spPr>
          <a:xfrm>
            <a:off x="7798734" y="1447799"/>
            <a:ext cx="3423447" cy="24860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9FBC776-9549-4E2F-962B-9861899B0015}"/>
              </a:ext>
            </a:extLst>
          </p:cNvPr>
          <p:cNvSpPr txBox="1">
            <a:spLocks/>
          </p:cNvSpPr>
          <p:nvPr/>
        </p:nvSpPr>
        <p:spPr>
          <a:xfrm>
            <a:off x="187195" y="249382"/>
            <a:ext cx="6223130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 err="1">
                <a:solidFill>
                  <a:schemeClr val="bg1"/>
                </a:solidFill>
              </a:rPr>
              <a:t>irAE</a:t>
            </a:r>
            <a:r>
              <a:rPr lang="en-US" altLang="zh-CN" sz="3200" dirty="0">
                <a:solidFill>
                  <a:schemeClr val="bg1"/>
                </a:solidFill>
              </a:rPr>
              <a:t> assessment in mouse model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F27849-1F91-4442-BCE1-81A51AF23AB2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74445F-D118-48F8-A0F2-BEED8DFC1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986" y="4335313"/>
            <a:ext cx="3578163" cy="24860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421864-2F3E-4CC5-810E-C010A0585282}"/>
              </a:ext>
            </a:extLst>
          </p:cNvPr>
          <p:cNvSpPr txBox="1"/>
          <p:nvPr/>
        </p:nvSpPr>
        <p:spPr>
          <a:xfrm>
            <a:off x="7915275" y="1085850"/>
            <a:ext cx="3306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Lymphocyte infiltration in liver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EE59EE-3216-428D-AFBF-1AB0855B1117}"/>
              </a:ext>
            </a:extLst>
          </p:cNvPr>
          <p:cNvSpPr txBox="1"/>
          <p:nvPr/>
        </p:nvSpPr>
        <p:spPr>
          <a:xfrm>
            <a:off x="8286750" y="3965981"/>
            <a:ext cx="281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Inflammation in liver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0D56D8-3616-491D-BF7D-6347FCDC4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222" y="4652813"/>
            <a:ext cx="1338403" cy="32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86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2D4C-8D39-4C2B-BC78-7F515195C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76400"/>
            <a:ext cx="6778625" cy="4413252"/>
          </a:xfrm>
        </p:spPr>
        <p:txBody>
          <a:bodyPr/>
          <a:lstStyle/>
          <a:p>
            <a:r>
              <a:rPr lang="en-US" sz="2800" dirty="0"/>
              <a:t>Comparative analysis between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MC38 colon cancer mouse model treated with tumor peptide vaccine (GSE178881)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B16F10 melanoma mouse model treated with VLP (ours)</a:t>
            </a:r>
          </a:p>
          <a:p>
            <a:endParaRPr lang="en-US" sz="2000" dirty="0"/>
          </a:p>
          <a:p>
            <a:r>
              <a:rPr lang="en-US" dirty="0"/>
              <a:t>VLP is more effective than peptide-based vaccine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Inducing vaccine peptide-specific T cell without immune checkpoint blockade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Inducing CD4+ Th1 cell clonal expansion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3186A0-0277-4891-B0D8-E59C71D894C4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F201DF-1B99-42FB-BA5C-B92667FB4783}"/>
              </a:ext>
            </a:extLst>
          </p:cNvPr>
          <p:cNvSpPr txBox="1">
            <a:spLocks/>
          </p:cNvSpPr>
          <p:nvPr/>
        </p:nvSpPr>
        <p:spPr>
          <a:xfrm>
            <a:off x="158619" y="249382"/>
            <a:ext cx="7356606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VLP is more immunogenic than peptide-based vaccine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99D06-74EC-4F64-BFB3-59ED3B6B1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165" y="2454685"/>
            <a:ext cx="3991532" cy="34866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6D44B3-5EA6-44A0-96E9-BF6E28B071E7}"/>
              </a:ext>
            </a:extLst>
          </p:cNvPr>
          <p:cNvSpPr txBox="1"/>
          <p:nvPr/>
        </p:nvSpPr>
        <p:spPr>
          <a:xfrm>
            <a:off x="8439150" y="6325011"/>
            <a:ext cx="3306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Liu 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et al.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Nat Cancer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C605A6-534D-45D5-9CAB-7E3A016D0E50}"/>
              </a:ext>
            </a:extLst>
          </p:cNvPr>
          <p:cNvSpPr txBox="1"/>
          <p:nvPr/>
        </p:nvSpPr>
        <p:spPr>
          <a:xfrm>
            <a:off x="8439150" y="2454685"/>
            <a:ext cx="1163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C2ED5-0B67-4E7F-880F-E08E9F7362DE}"/>
              </a:ext>
            </a:extLst>
          </p:cNvPr>
          <p:cNvSpPr txBox="1"/>
          <p:nvPr/>
        </p:nvSpPr>
        <p:spPr>
          <a:xfrm>
            <a:off x="8309840" y="4074484"/>
            <a:ext cx="2173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Peptide-based vaccine</a:t>
            </a:r>
          </a:p>
        </p:txBody>
      </p:sp>
    </p:spTree>
    <p:extLst>
      <p:ext uri="{BB962C8B-B14F-4D97-AF65-F5344CB8AC3E}">
        <p14:creationId xmlns:p14="http://schemas.microsoft.com/office/powerpoint/2010/main" val="4012766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2D4C-8D39-4C2B-BC78-7F515195C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68583"/>
            <a:ext cx="10515600" cy="2881744"/>
          </a:xfrm>
        </p:spPr>
        <p:txBody>
          <a:bodyPr/>
          <a:lstStyle/>
          <a:p>
            <a:r>
              <a:rPr lang="en-US" dirty="0"/>
              <a:t>Antigen-presenting cell (APC) populations were activated by </a:t>
            </a:r>
            <a:r>
              <a:rPr lang="el-GR" dirty="0"/>
              <a:t>α</a:t>
            </a:r>
            <a:r>
              <a:rPr lang="en-US" dirty="0"/>
              <a:t>CTLA4 treatment but not VLP vaccination: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Increased antigen presentation and MHC signaling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Increased positive regulation of T cell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Increased response to interferons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3186A0-0277-4891-B0D8-E59C71D894C4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F201DF-1B99-42FB-BA5C-B92667FB4783}"/>
              </a:ext>
            </a:extLst>
          </p:cNvPr>
          <p:cNvSpPr txBox="1">
            <a:spLocks/>
          </p:cNvSpPr>
          <p:nvPr/>
        </p:nvSpPr>
        <p:spPr>
          <a:xfrm>
            <a:off x="158619" y="249382"/>
            <a:ext cx="7356606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αCTLA4 increase APC activation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B382A-C3AF-4CCC-A9E0-BB517751C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218" y="3546786"/>
            <a:ext cx="6038175" cy="31264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9A2275-5581-42C5-9355-922459BC0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865" y="3916217"/>
            <a:ext cx="3333080" cy="261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97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15CD1-94CD-477F-99E7-B0A8A1D18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782618"/>
            <a:ext cx="10515600" cy="430703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VLP vaccination combined with αCTLA4 </a:t>
            </a:r>
            <a:r>
              <a:rPr lang="en-US" altLang="zh-CN" dirty="0"/>
              <a:t>lymphatic delivery</a:t>
            </a:r>
            <a:r>
              <a:rPr lang="en-US" dirty="0"/>
              <a:t> is effective to induce potent anti-tumor immune responses.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enhances complementary CD8+ and CD4+ T cell priming, effector T cell infiltration, tumor-specific responses, and durable immune memory that are critical for long-term tumor control.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Compared to regular blood delivery, the lymphatic delivery of αCTLA4 reduces immune-related adverse events </a:t>
            </a:r>
            <a:r>
              <a:rPr lang="en-US" altLang="zh-CN" dirty="0"/>
              <a:t>and contributes to improved anti-tumor response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anticipate that directing vaccination and ICI to non-tumor draining lymph node could improve clinical outcomes in cancer patients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872D3C-23E6-461D-9A34-9A0B67868352}"/>
              </a:ext>
            </a:extLst>
          </p:cNvPr>
          <p:cNvSpPr txBox="1">
            <a:spLocks/>
          </p:cNvSpPr>
          <p:nvPr/>
        </p:nvSpPr>
        <p:spPr>
          <a:xfrm>
            <a:off x="114301" y="249382"/>
            <a:ext cx="11994572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Summary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571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0EC2-53A7-8848-EB85-A2F39F46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072" y="230909"/>
            <a:ext cx="10051473" cy="612342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Acknowledgement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47B059-3EF8-409B-83A3-ECA304742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576" y="1314161"/>
            <a:ext cx="6160079" cy="5312930"/>
          </a:xfrm>
        </p:spPr>
        <p:txBody>
          <a:bodyPr/>
          <a:lstStyle/>
          <a:p>
            <a:r>
              <a:rPr lang="en-US" sz="2000" dirty="0"/>
              <a:t>Collaborators:</a:t>
            </a:r>
          </a:p>
          <a:p>
            <a:r>
              <a:rPr lang="en-US" sz="2000" u="sng" dirty="0"/>
              <a:t>UTHealth Houston</a:t>
            </a:r>
          </a:p>
          <a:p>
            <a:r>
              <a:rPr lang="en-US" sz="1200" b="1" dirty="0"/>
              <a:t>Eva Sevick</a:t>
            </a:r>
          </a:p>
          <a:p>
            <a:r>
              <a:rPr lang="en-US" sz="1200" b="1" dirty="0"/>
              <a:t>Zhongming Zhao</a:t>
            </a:r>
          </a:p>
          <a:p>
            <a:r>
              <a:rPr lang="en-US" sz="1200" dirty="0" err="1">
                <a:effectLst/>
                <a:ea typeface="Times New Roman" panose="02020603050405020304" pitchFamily="18" charset="0"/>
              </a:rPr>
              <a:t>Sarat</a:t>
            </a:r>
            <a:r>
              <a:rPr lang="en-US" sz="1200" dirty="0">
                <a:effectLst/>
                <a:ea typeface="Times New Roman" panose="02020603050405020304" pitchFamily="18" charset="0"/>
              </a:rPr>
              <a:t> Kumar </a:t>
            </a:r>
            <a:r>
              <a:rPr lang="en-US" sz="1200" dirty="0" err="1">
                <a:effectLst/>
                <a:ea typeface="Times New Roman" panose="02020603050405020304" pitchFamily="18" charset="0"/>
              </a:rPr>
              <a:t>Kottarath</a:t>
            </a:r>
            <a:endParaRPr lang="en-US" sz="1200" dirty="0">
              <a:effectLst/>
              <a:ea typeface="Times New Roman" panose="02020603050405020304" pitchFamily="18" charset="0"/>
            </a:endParaRPr>
          </a:p>
          <a:p>
            <a:r>
              <a:rPr lang="en-US" sz="1200" dirty="0">
                <a:effectLst/>
                <a:ea typeface="Times New Roman" panose="02020603050405020304" pitchFamily="18" charset="0"/>
              </a:rPr>
              <a:t>David Wiggins</a:t>
            </a:r>
            <a:endParaRPr lang="en-US" sz="1200" dirty="0">
              <a:ea typeface="Times New Roman" panose="02020603050405020304" pitchFamily="18" charset="0"/>
            </a:endParaRPr>
          </a:p>
          <a:p>
            <a:r>
              <a:rPr lang="en-US" sz="1200" dirty="0">
                <a:effectLst/>
                <a:ea typeface="Times New Roman" panose="02020603050405020304" pitchFamily="18" charset="0"/>
              </a:rPr>
              <a:t>Fred Christian Velasquez</a:t>
            </a:r>
            <a:endParaRPr lang="en-US" sz="1200" dirty="0"/>
          </a:p>
          <a:p>
            <a:r>
              <a:rPr lang="en-US" sz="2000" u="sng" dirty="0"/>
              <a:t>University of Bern</a:t>
            </a:r>
          </a:p>
          <a:p>
            <a:r>
              <a:rPr lang="en-US" sz="1200" b="1" dirty="0">
                <a:effectLst/>
                <a:ea typeface="Times New Roman" panose="02020603050405020304" pitchFamily="18" charset="0"/>
              </a:rPr>
              <a:t>Mona O. Mohsen</a:t>
            </a:r>
          </a:p>
          <a:p>
            <a:r>
              <a:rPr lang="en-US" sz="1200" dirty="0" err="1">
                <a:effectLst/>
                <a:ea typeface="Times New Roman" panose="02020603050405020304" pitchFamily="18" charset="0"/>
              </a:rPr>
              <a:t>Arnau</a:t>
            </a:r>
            <a:r>
              <a:rPr lang="en-US" sz="12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ea typeface="Times New Roman" panose="02020603050405020304" pitchFamily="18" charset="0"/>
              </a:rPr>
              <a:t>Solé</a:t>
            </a:r>
            <a:r>
              <a:rPr lang="en-US" sz="12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ea typeface="Times New Roman" panose="02020603050405020304" pitchFamily="18" charset="0"/>
              </a:rPr>
              <a:t>Casaramona</a:t>
            </a:r>
            <a:endParaRPr lang="en-US" sz="1200" dirty="0">
              <a:effectLst/>
              <a:ea typeface="Times New Roman" panose="02020603050405020304" pitchFamily="18" charset="0"/>
            </a:endParaRPr>
          </a:p>
          <a:p>
            <a:r>
              <a:rPr lang="en-US" sz="1200" dirty="0">
                <a:effectLst/>
                <a:ea typeface="Times New Roman" panose="02020603050405020304" pitchFamily="18" charset="0"/>
              </a:rPr>
              <a:t>Martin F. Bachmann</a:t>
            </a:r>
            <a:endParaRPr lang="en-US" sz="1200" dirty="0"/>
          </a:p>
          <a:p>
            <a:r>
              <a:rPr lang="en-US" sz="2000" u="sng" dirty="0"/>
              <a:t>Baylor College of Medicine</a:t>
            </a:r>
          </a:p>
          <a:p>
            <a:r>
              <a:rPr lang="en-US" sz="1200" b="1" dirty="0" err="1">
                <a:effectLst/>
                <a:ea typeface="Times New Roman" panose="02020603050405020304" pitchFamily="18" charset="0"/>
              </a:rPr>
              <a:t>Songlin</a:t>
            </a:r>
            <a:r>
              <a:rPr lang="en-US" sz="1200" b="1" dirty="0">
                <a:effectLst/>
                <a:ea typeface="Times New Roman" panose="02020603050405020304" pitchFamily="18" charset="0"/>
              </a:rPr>
              <a:t> Zhang</a:t>
            </a:r>
          </a:p>
          <a:p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MD Anderson Cancer </a:t>
            </a:r>
            <a:r>
              <a:rPr lang="en-US" altLang="zh-CN" sz="2000" u="sng" dirty="0"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</a:p>
          <a:p>
            <a:r>
              <a:rPr lang="en-US" sz="11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Tao Wang</a:t>
            </a:r>
          </a:p>
          <a:p>
            <a:r>
              <a:rPr lang="en-US" sz="11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Yi Han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b="1" dirty="0"/>
          </a:p>
          <a:p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6A0F57-DBC1-43DC-9B3E-28062CBA0A2A}"/>
              </a:ext>
            </a:extLst>
          </p:cNvPr>
          <p:cNvSpPr txBox="1"/>
          <p:nvPr/>
        </p:nvSpPr>
        <p:spPr>
          <a:xfrm>
            <a:off x="5834495" y="3276600"/>
            <a:ext cx="577648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16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R21CA267263</a:t>
            </a:r>
          </a:p>
          <a:p>
            <a:r>
              <a:rPr lang="en-US" sz="16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R01CA276513</a:t>
            </a:r>
            <a:endParaRPr lang="en-US" sz="1600" dirty="0"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6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R01LM012806</a:t>
            </a:r>
          </a:p>
          <a:p>
            <a:r>
              <a:rPr lang="en-US" sz="16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CPRIT RP190019</a:t>
            </a:r>
            <a:endParaRPr lang="en-US" sz="1600" dirty="0"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6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CPRIT RP240610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Fellowship:</a:t>
            </a:r>
          </a:p>
          <a:p>
            <a:r>
              <a:rPr lang="en-US" sz="1600" b="0" i="0" dirty="0">
                <a:solidFill>
                  <a:srgbClr val="2424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John and Rebekah Harper Fellowship in Biomedical Sciences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CPRIT BIG-TCR Predoctoral Fellowship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4A266F-E018-4AE1-BDCD-D3468D9A9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547" y="1427374"/>
            <a:ext cx="4064000" cy="7571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5FBAA8-5D6E-46B1-948B-7B50DFDAB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547" y="2541689"/>
            <a:ext cx="3248025" cy="1053692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03ABE4A-1DE3-45CD-A271-92846B304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52100"/>
            <a:ext cx="1197377" cy="105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759EDB39-E45B-4501-81A3-BE5AAFAFC7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25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1C17F-8BDF-46B0-9DA4-84F87C17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7FA40-5A46-4B42-BFB6-BA992C648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088E45-6E85-444F-8BE2-B990D9CB0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064" y="2936436"/>
            <a:ext cx="7316221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85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2D4C-8D39-4C2B-BC78-7F515195C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3186A0-0277-4891-B0D8-E59C71D894C4}"/>
              </a:ext>
            </a:extLst>
          </p:cNvPr>
          <p:cNvSpPr txBox="1">
            <a:spLocks/>
          </p:cNvSpPr>
          <p:nvPr/>
        </p:nvSpPr>
        <p:spPr>
          <a:xfrm>
            <a:off x="10335491" y="249382"/>
            <a:ext cx="1773381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F201DF-1B99-42FB-BA5C-B92667FB4783}"/>
              </a:ext>
            </a:extLst>
          </p:cNvPr>
          <p:cNvSpPr txBox="1">
            <a:spLocks/>
          </p:cNvSpPr>
          <p:nvPr/>
        </p:nvSpPr>
        <p:spPr>
          <a:xfrm>
            <a:off x="158619" y="249382"/>
            <a:ext cx="7356606" cy="5189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 sz="3200" dirty="0">
                <a:solidFill>
                  <a:schemeClr val="bg1"/>
                </a:solidFill>
              </a:rPr>
              <a:t>αCTLA4 increase MHC signaling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CD2CC-0CD6-4087-AA7F-E89C9654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22" y="3724275"/>
            <a:ext cx="7068139" cy="2508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ADBA9C-6D4E-4769-B39B-1E29F030A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448" y="3225798"/>
            <a:ext cx="4235424" cy="332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920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4862-3F94-4DAE-8E8B-27F549F7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E1D26-04B6-4D03-89F2-5234F5637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6890B-7E13-44E3-9D21-5A1648CA8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1451693"/>
            <a:ext cx="9753600" cy="485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34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02E9-C15F-423D-AADC-4A7185A3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7FC23-81B4-44D6-940A-F48EB31D5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0FB85-670D-41B1-B3DC-CA8B6A64F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03" y="1897856"/>
            <a:ext cx="9030960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6038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uth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uth" id="{87992923-8FDF-4E93-8ACF-E89A7BCB624F}" vid="{80042C40-691F-451E-81D1-648DDE64A1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uth</Template>
  <TotalTime>5805</TotalTime>
  <Words>1113</Words>
  <Application>Microsoft Office PowerPoint</Application>
  <PresentationFormat>Widescreen</PresentationFormat>
  <Paragraphs>162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Theme uth</vt:lpstr>
      <vt:lpstr>Single-cell immune profiling reveals potent anti-tumor immune response in virus-like particle vaccine and anti-CTLA4 treatment through lymphatic delivery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Acknowledgement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Single-cell immune profiling reveals potent anti-tumor immune response in virus-like particle vaccine and anti-CTLA4 through lymphatic delivery</dc:title>
  <dc:creator>Liu, Wendao</dc:creator>
  <cp:lastModifiedBy>Liu, Wendao</cp:lastModifiedBy>
  <cp:revision>54</cp:revision>
  <dcterms:created xsi:type="dcterms:W3CDTF">2025-08-18T15:20:04Z</dcterms:created>
  <dcterms:modified xsi:type="dcterms:W3CDTF">2025-08-22T16:05:37Z</dcterms:modified>
</cp:coreProperties>
</file>